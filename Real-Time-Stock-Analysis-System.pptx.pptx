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layfair Display Bold" charset="1" panose="00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63916" y="2872987"/>
            <a:ext cx="9445526" cy="3571681"/>
            <a:chOff x="0" y="0"/>
            <a:chExt cx="12594035" cy="47622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4035" cy="4762241"/>
            </a:xfrm>
            <a:custGeom>
              <a:avLst/>
              <a:gdLst/>
              <a:ahLst/>
              <a:cxnLst/>
              <a:rect r="r" b="b" t="t" l="l"/>
              <a:pathLst>
                <a:path h="4762241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4762241"/>
                  </a:lnTo>
                  <a:lnTo>
                    <a:pt x="0" y="47622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594035" cy="48098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426"/>
                </a:lnSpc>
              </a:pPr>
              <a:r>
                <a:rPr lang="en-US" sz="91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Real-Time data Analysis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59166" y="6100911"/>
            <a:ext cx="7519129" cy="537778"/>
            <a:chOff x="0" y="0"/>
            <a:chExt cx="12594035" cy="9007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35" cy="900742"/>
            </a:xfrm>
            <a:custGeom>
              <a:avLst/>
              <a:gdLst/>
              <a:ahLst/>
              <a:cxnLst/>
              <a:rect r="r" b="b" t="t" l="l"/>
              <a:pathLst>
                <a:path h="900742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900742"/>
                  </a:lnTo>
                  <a:lnTo>
                    <a:pt x="0" y="9007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2594035" cy="10150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Python-Powered Stock Market Dashboard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760472"/>
            <a:ext cx="7088237" cy="1416183"/>
            <a:chOff x="0" y="0"/>
            <a:chExt cx="9450983" cy="18882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0984" cy="1888244"/>
            </a:xfrm>
            <a:custGeom>
              <a:avLst/>
              <a:gdLst/>
              <a:ahLst/>
              <a:cxnLst/>
              <a:rect r="r" b="b" t="t" l="l"/>
              <a:pathLst>
                <a:path h="188824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888244"/>
                  </a:lnTo>
                  <a:lnTo>
                    <a:pt x="0" y="18882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450983" cy="191681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683"/>
                </a:lnSpc>
              </a:pPr>
              <a:r>
                <a:rPr lang="en-US" sz="69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System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582934"/>
            <a:ext cx="9445526" cy="4063213"/>
            <a:chOff x="0" y="0"/>
            <a:chExt cx="12594035" cy="54176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4035" cy="5417617"/>
            </a:xfrm>
            <a:custGeom>
              <a:avLst/>
              <a:gdLst/>
              <a:ahLst/>
              <a:cxnLst/>
              <a:rect r="r" b="b" t="t" l="l"/>
              <a:pathLst>
                <a:path h="541761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5417617"/>
                  </a:lnTo>
                  <a:lnTo>
                    <a:pt x="0" y="5417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12594035" cy="555096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53"/>
                </a:lnSpc>
              </a:pPr>
              <a:r>
                <a:rPr lang="en-US" sz="32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purpose of this system is to provide real-time monitoring and analysis of stock market data. The core components include data acquisition from the Alpha Vantage API, a statistical analysis engine, and an interactive web dashboard.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65371"/>
            <a:ext cx="7430989" cy="2184340"/>
            <a:chOff x="0" y="0"/>
            <a:chExt cx="9907985" cy="2912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7985" cy="2912453"/>
            </a:xfrm>
            <a:custGeom>
              <a:avLst/>
              <a:gdLst/>
              <a:ahLst/>
              <a:cxnLst/>
              <a:rect r="r" b="b" t="t" l="l"/>
              <a:pathLst>
                <a:path h="2912453" w="9907985">
                  <a:moveTo>
                    <a:pt x="0" y="0"/>
                  </a:moveTo>
                  <a:lnTo>
                    <a:pt x="9907985" y="0"/>
                  </a:lnTo>
                  <a:lnTo>
                    <a:pt x="9907985" y="2912453"/>
                  </a:lnTo>
                  <a:lnTo>
                    <a:pt x="0" y="29124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07985" cy="29410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561"/>
                </a:lnSpc>
              </a:pPr>
              <a:r>
                <a:rPr lang="en-US" sz="60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Technical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748510"/>
            <a:ext cx="3544044" cy="738377"/>
            <a:chOff x="0" y="0"/>
            <a:chExt cx="4725392" cy="9845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984503"/>
            </a:xfrm>
            <a:custGeom>
              <a:avLst/>
              <a:gdLst/>
              <a:ahLst/>
              <a:cxnLst/>
              <a:rect r="r" b="b" t="t" l="l"/>
              <a:pathLst>
                <a:path h="98450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84503"/>
                  </a:lnTo>
                  <a:lnTo>
                    <a:pt x="0" y="984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725392" cy="9940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62"/>
                </a:lnSpc>
              </a:pPr>
              <a:r>
                <a:rPr lang="en-US" sz="3649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Backend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661891"/>
            <a:ext cx="7805886" cy="2290717"/>
            <a:chOff x="0" y="0"/>
            <a:chExt cx="10407848" cy="3054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3054289"/>
            </a:xfrm>
            <a:custGeom>
              <a:avLst/>
              <a:gdLst/>
              <a:ahLst/>
              <a:cxnLst/>
              <a:rect r="r" b="b" t="t" l="l"/>
              <a:pathLst>
                <a:path h="3054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3054289"/>
                  </a:lnTo>
                  <a:lnTo>
                    <a:pt x="0" y="3054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10407848" cy="3168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backend is built using Python with multi-threading capabilities. The data flow follows the sequence: API → Queue → Analyzer → Web Server → Browser.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99401" y="4748510"/>
            <a:ext cx="3544044" cy="738377"/>
            <a:chOff x="0" y="0"/>
            <a:chExt cx="4725392" cy="9845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984503"/>
            </a:xfrm>
            <a:custGeom>
              <a:avLst/>
              <a:gdLst/>
              <a:ahLst/>
              <a:cxnLst/>
              <a:rect r="r" b="b" t="t" l="l"/>
              <a:pathLst>
                <a:path h="98450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984503"/>
                  </a:lnTo>
                  <a:lnTo>
                    <a:pt x="0" y="984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725392" cy="9940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62"/>
                </a:lnSpc>
              </a:pPr>
              <a:r>
                <a:rPr lang="en-US" sz="3649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Key Libraries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5474940"/>
            <a:ext cx="7805886" cy="576217"/>
            <a:chOff x="0" y="0"/>
            <a:chExt cx="10407848" cy="768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07848" cy="768289"/>
            </a:xfrm>
            <a:custGeom>
              <a:avLst/>
              <a:gdLst/>
              <a:ahLst/>
              <a:cxnLst/>
              <a:rect r="r" b="b" t="t" l="l"/>
              <a:pathLst>
                <a:path h="768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768289"/>
                  </a:lnTo>
                  <a:lnTo>
                    <a:pt x="0" y="768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10407848" cy="882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Requests, NumPy, Threading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6027687"/>
            <a:ext cx="7805886" cy="576217"/>
            <a:chOff x="0" y="0"/>
            <a:chExt cx="10407848" cy="7682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768289"/>
            </a:xfrm>
            <a:custGeom>
              <a:avLst/>
              <a:gdLst/>
              <a:ahLst/>
              <a:cxnLst/>
              <a:rect r="r" b="b" t="t" l="l"/>
              <a:pathLst>
                <a:path h="768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768289"/>
                  </a:lnTo>
                  <a:lnTo>
                    <a:pt x="0" y="768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10407848" cy="882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HTTP.Server, Socketserver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580435"/>
            <a:ext cx="7805886" cy="576217"/>
            <a:chOff x="0" y="0"/>
            <a:chExt cx="10407848" cy="7682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768289"/>
            </a:xfrm>
            <a:custGeom>
              <a:avLst/>
              <a:gdLst/>
              <a:ahLst/>
              <a:cxnLst/>
              <a:rect r="r" b="b" t="t" l="l"/>
              <a:pathLst>
                <a:path h="768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768289"/>
                  </a:lnTo>
                  <a:lnTo>
                    <a:pt x="0" y="768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10407848" cy="882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Plotly.js (frontend)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t="0" r="-1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7" y="4212431"/>
            <a:ext cx="7088237" cy="1279155"/>
            <a:chOff x="0" y="0"/>
            <a:chExt cx="9450983" cy="1705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50984" cy="1705540"/>
            </a:xfrm>
            <a:custGeom>
              <a:avLst/>
              <a:gdLst/>
              <a:ahLst/>
              <a:cxnLst/>
              <a:rect r="r" b="b" t="t" l="l"/>
              <a:pathLst>
                <a:path h="1705540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705540"/>
                  </a:lnTo>
                  <a:lnTo>
                    <a:pt x="0" y="1705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450983" cy="17436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10"/>
                </a:lnSpc>
              </a:pPr>
              <a:r>
                <a:rPr lang="en-US" sz="62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Data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238" y="5669905"/>
            <a:ext cx="637878" cy="637878"/>
            <a:chOff x="0" y="0"/>
            <a:chExt cx="850503" cy="8505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575" y="5723036"/>
            <a:ext cx="425202" cy="531614"/>
            <a:chOff x="0" y="0"/>
            <a:chExt cx="566937" cy="7088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13632" y="5767239"/>
            <a:ext cx="3544044" cy="442912"/>
            <a:chOff x="0" y="0"/>
            <a:chExt cx="4725392" cy="590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Data Source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13632" y="6380261"/>
            <a:ext cx="7053262" cy="907256"/>
            <a:chOff x="0" y="0"/>
            <a:chExt cx="9404350" cy="12096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4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system pulls data from the Alpha Vantage API, with a fallback mechanism in place.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1254" y="5669905"/>
            <a:ext cx="637877" cy="637878"/>
            <a:chOff x="0" y="0"/>
            <a:chExt cx="850503" cy="8505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27592" y="5723036"/>
            <a:ext cx="425203" cy="531614"/>
            <a:chOff x="0" y="0"/>
            <a:chExt cx="566937" cy="7088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42649" y="5767239"/>
            <a:ext cx="3544044" cy="442912"/>
            <a:chOff x="0" y="0"/>
            <a:chExt cx="4725392" cy="590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Processing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42649" y="6380261"/>
            <a:ext cx="7053262" cy="907256"/>
            <a:chOff x="0" y="0"/>
            <a:chExt cx="9404350" cy="1209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04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data is subjected to statistical analysis and anomaly detection.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2238" y="7854554"/>
            <a:ext cx="637878" cy="637878"/>
            <a:chOff x="0" y="0"/>
            <a:chExt cx="850503" cy="8505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8575" y="7907685"/>
            <a:ext cx="425202" cy="531614"/>
            <a:chOff x="0" y="0"/>
            <a:chExt cx="566937" cy="7088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13632" y="7951886"/>
            <a:ext cx="3544044" cy="442912"/>
            <a:chOff x="0" y="0"/>
            <a:chExt cx="4725392" cy="590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Storage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13632" y="8564910"/>
            <a:ext cx="7053262" cy="907256"/>
            <a:chOff x="0" y="0"/>
            <a:chExt cx="9404350" cy="12096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04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In-memory data structures with thread synchronization are used for storage.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1254" y="7854554"/>
            <a:ext cx="637877" cy="637878"/>
            <a:chOff x="0" y="0"/>
            <a:chExt cx="850503" cy="8505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27592" y="7907685"/>
            <a:ext cx="425203" cy="531614"/>
            <a:chOff x="0" y="0"/>
            <a:chExt cx="566937" cy="7088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42649" y="7951886"/>
            <a:ext cx="3544044" cy="442912"/>
            <a:chOff x="0" y="0"/>
            <a:chExt cx="4725392" cy="5905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Tracked Stocks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42649" y="8564910"/>
            <a:ext cx="7053262" cy="907256"/>
            <a:chOff x="0" y="0"/>
            <a:chExt cx="9404350" cy="12096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404350" cy="1209675"/>
            </a:xfrm>
            <a:custGeom>
              <a:avLst/>
              <a:gdLst/>
              <a:ahLst/>
              <a:cxnLst/>
              <a:rect r="r" b="b" t="t" l="l"/>
              <a:pathLst>
                <a:path h="1209675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system currently tracks the following stocks: AAPL, GOOGL, MSFT, AMZN, META.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10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521760"/>
            <a:ext cx="7088237" cy="1255497"/>
            <a:chOff x="0" y="0"/>
            <a:chExt cx="9450983" cy="1673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673996"/>
            </a:xfrm>
            <a:custGeom>
              <a:avLst/>
              <a:gdLst/>
              <a:ahLst/>
              <a:cxnLst/>
              <a:rect r="r" b="b" t="t" l="l"/>
              <a:pathLst>
                <a:path h="1673996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673996"/>
                  </a:lnTo>
                  <a:lnTo>
                    <a:pt x="0" y="16739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450983" cy="170257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85"/>
                </a:lnSpc>
              </a:pPr>
              <a:r>
                <a:rPr lang="en-US" sz="61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Core Features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992238" y="438685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19"/>
                </a:lnTo>
                <a:lnTo>
                  <a:pt x="0" y="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2238" y="5379095"/>
            <a:ext cx="3810000" cy="885825"/>
            <a:chOff x="0" y="0"/>
            <a:chExt cx="5080000" cy="1181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080000" cy="12001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Real-time Data Updates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2238" y="6435030"/>
            <a:ext cx="3810000" cy="907256"/>
            <a:chOff x="0" y="0"/>
            <a:chExt cx="5080000" cy="12096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0" cy="1209675"/>
            </a:xfrm>
            <a:custGeom>
              <a:avLst/>
              <a:gdLst/>
              <a:ahLst/>
              <a:cxnLst/>
              <a:rect r="r" b="b" t="t" l="l"/>
              <a:pathLst>
                <a:path h="1209675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080000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system updates stock data at 15-second intervals.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5156598" y="438685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19"/>
                </a:lnTo>
                <a:lnTo>
                  <a:pt x="0" y="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156598" y="5379095"/>
            <a:ext cx="3544044" cy="442912"/>
            <a:chOff x="0" y="0"/>
            <a:chExt cx="4725392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Multi-Stock Tracking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56598" y="5992118"/>
            <a:ext cx="3810149" cy="1360885"/>
            <a:chOff x="0" y="0"/>
            <a:chExt cx="5080198" cy="18145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198" cy="1814513"/>
            </a:xfrm>
            <a:custGeom>
              <a:avLst/>
              <a:gdLst/>
              <a:ahLst/>
              <a:cxnLst/>
              <a:rect r="r" b="b" t="t" l="l"/>
              <a:pathLst>
                <a:path h="1814513" w="5080198">
                  <a:moveTo>
                    <a:pt x="0" y="0"/>
                  </a:moveTo>
                  <a:lnTo>
                    <a:pt x="5080198" y="0"/>
                  </a:lnTo>
                  <a:lnTo>
                    <a:pt x="508019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5080198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Users can track and compare multiple stocks simultaneously.</a:t>
              </a:r>
            </a:p>
          </p:txBody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9321105" y="438685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19"/>
                </a:lnTo>
                <a:lnTo>
                  <a:pt x="0" y="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321105" y="5379095"/>
            <a:ext cx="3544044" cy="442912"/>
            <a:chOff x="0" y="0"/>
            <a:chExt cx="4725392" cy="590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Statistical Analysis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21105" y="5992118"/>
            <a:ext cx="3810149" cy="1360885"/>
            <a:chOff x="0" y="0"/>
            <a:chExt cx="5080198" cy="18145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198" cy="1814513"/>
            </a:xfrm>
            <a:custGeom>
              <a:avLst/>
              <a:gdLst/>
              <a:ahLst/>
              <a:cxnLst/>
              <a:rect r="r" b="b" t="t" l="l"/>
              <a:pathLst>
                <a:path h="1814513" w="5080198">
                  <a:moveTo>
                    <a:pt x="0" y="0"/>
                  </a:moveTo>
                  <a:lnTo>
                    <a:pt x="5080198" y="0"/>
                  </a:lnTo>
                  <a:lnTo>
                    <a:pt x="508019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5080198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system provides real-time calculations of mean and standard deviation.</a:t>
              </a:r>
            </a:p>
          </p:txBody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3485614" y="438685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19"/>
                </a:lnTo>
                <a:lnTo>
                  <a:pt x="0" y="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485614" y="5369570"/>
            <a:ext cx="3725316" cy="554355"/>
            <a:chOff x="0" y="0"/>
            <a:chExt cx="4967088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7088" cy="739140"/>
            </a:xfrm>
            <a:custGeom>
              <a:avLst/>
              <a:gdLst/>
              <a:ahLst/>
              <a:cxnLst/>
              <a:rect r="r" b="b" t="t" l="l"/>
              <a:pathLst>
                <a:path h="739140" w="4967088">
                  <a:moveTo>
                    <a:pt x="0" y="0"/>
                  </a:moveTo>
                  <a:lnTo>
                    <a:pt x="4967088" y="0"/>
                  </a:lnTo>
                  <a:lnTo>
                    <a:pt x="4967088" y="739140"/>
                  </a:lnTo>
                  <a:lnTo>
                    <a:pt x="0" y="739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67088" cy="758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Responsive Dashboard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85614" y="5992118"/>
            <a:ext cx="3810149" cy="1360885"/>
            <a:chOff x="0" y="0"/>
            <a:chExt cx="5080198" cy="18145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198" cy="1814513"/>
            </a:xfrm>
            <a:custGeom>
              <a:avLst/>
              <a:gdLst/>
              <a:ahLst/>
              <a:cxnLst/>
              <a:rect r="r" b="b" t="t" l="l"/>
              <a:pathLst>
                <a:path h="1814513" w="5080198">
                  <a:moveTo>
                    <a:pt x="0" y="0"/>
                  </a:moveTo>
                  <a:lnTo>
                    <a:pt x="5080198" y="0"/>
                  </a:lnTo>
                  <a:lnTo>
                    <a:pt x="508019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5080198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The web-based dashboard adapts to various device sizes and resolutions.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3153816"/>
            <a:ext cx="7088237" cy="1156260"/>
            <a:chOff x="0" y="0"/>
            <a:chExt cx="9450983" cy="15416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541679"/>
            </a:xfrm>
            <a:custGeom>
              <a:avLst/>
              <a:gdLst/>
              <a:ahLst/>
              <a:cxnLst/>
              <a:rect r="r" b="b" t="t" l="l"/>
              <a:pathLst>
                <a:path h="1541679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541679"/>
                  </a:lnTo>
                  <a:lnTo>
                    <a:pt x="0" y="1541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450983" cy="15607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62"/>
                </a:lnSpc>
              </a:pPr>
              <a:r>
                <a:rPr lang="en-US" sz="56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Dashboard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5850" y="4748510"/>
            <a:ext cx="3544044" cy="615696"/>
            <a:chOff x="0" y="0"/>
            <a:chExt cx="4725392" cy="820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820928"/>
            </a:xfrm>
            <a:custGeom>
              <a:avLst/>
              <a:gdLst/>
              <a:ahLst/>
              <a:cxnLst/>
              <a:rect r="r" b="b" t="t" l="l"/>
              <a:pathLst>
                <a:path h="82092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8495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Interactive Charts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5474940"/>
            <a:ext cx="7805886" cy="518559"/>
            <a:chOff x="0" y="0"/>
            <a:chExt cx="10407848" cy="6914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trends (time series)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8" y="6027687"/>
            <a:ext cx="7805886" cy="518559"/>
            <a:chOff x="0" y="0"/>
            <a:chExt cx="10407848" cy="6914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Volume comparison (logarithmic scale)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4748510"/>
            <a:ext cx="3544044" cy="615696"/>
            <a:chOff x="0" y="0"/>
            <a:chExt cx="4725392" cy="820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820928"/>
            </a:xfrm>
            <a:custGeom>
              <a:avLst/>
              <a:gdLst/>
              <a:ahLst/>
              <a:cxnLst/>
              <a:rect r="r" b="b" t="t" l="l"/>
              <a:pathLst>
                <a:path h="82092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928"/>
                  </a:lnTo>
                  <a:lnTo>
                    <a:pt x="0" y="820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725392" cy="8495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Real-time Statistics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5474940"/>
            <a:ext cx="7805886" cy="518559"/>
            <a:chOff x="0" y="0"/>
            <a:chExt cx="10407848" cy="6914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Current prices and volumes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027687"/>
            <a:ext cx="7805886" cy="518559"/>
            <a:chOff x="0" y="0"/>
            <a:chExt cx="10407848" cy="6914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Statistical indicators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9401" y="6580435"/>
            <a:ext cx="7805886" cy="518559"/>
            <a:chOff x="0" y="0"/>
            <a:chExt cx="10407848" cy="6914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Anomaly warnings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2487662"/>
            <a:ext cx="8315474" cy="1108944"/>
            <a:chOff x="0" y="0"/>
            <a:chExt cx="11087298" cy="14785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87298" cy="1478593"/>
            </a:xfrm>
            <a:custGeom>
              <a:avLst/>
              <a:gdLst/>
              <a:ahLst/>
              <a:cxnLst/>
              <a:rect r="r" b="b" t="t" l="l"/>
              <a:pathLst>
                <a:path h="1478593" w="11087298">
                  <a:moveTo>
                    <a:pt x="0" y="0"/>
                  </a:moveTo>
                  <a:lnTo>
                    <a:pt x="11087298" y="0"/>
                  </a:lnTo>
                  <a:lnTo>
                    <a:pt x="11087298" y="1478593"/>
                  </a:lnTo>
                  <a:lnTo>
                    <a:pt x="0" y="1478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087298" cy="15071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812"/>
                </a:lnSpc>
              </a:pPr>
              <a:r>
                <a:rPr lang="en-US" sz="54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Data Analysis Techniques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3798838"/>
            <a:ext cx="637878" cy="637878"/>
            <a:chOff x="0" y="0"/>
            <a:chExt cx="850503" cy="8505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575" y="3851970"/>
            <a:ext cx="425202" cy="531614"/>
            <a:chOff x="0" y="0"/>
            <a:chExt cx="566937" cy="7088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13632" y="3896171"/>
            <a:ext cx="3544044" cy="601599"/>
            <a:chOff x="0" y="0"/>
            <a:chExt cx="4725392" cy="8021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25392" cy="802132"/>
            </a:xfrm>
            <a:custGeom>
              <a:avLst/>
              <a:gdLst/>
              <a:ahLst/>
              <a:cxnLst/>
              <a:rect r="r" b="b" t="t" l="l"/>
              <a:pathLst>
                <a:path h="802132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725392" cy="8116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Statistical Methods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13633" y="4509195"/>
            <a:ext cx="8524131" cy="489815"/>
            <a:chOff x="0" y="0"/>
            <a:chExt cx="11365508" cy="653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65509" cy="653086"/>
            </a:xfrm>
            <a:custGeom>
              <a:avLst/>
              <a:gdLst/>
              <a:ahLst/>
              <a:cxnLst/>
              <a:rect r="r" b="b" t="t" l="l"/>
              <a:pathLst>
                <a:path h="653086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1365508" cy="7483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60064" indent="-180032" lvl="1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Rolling averages and standard deviations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13633" y="5061942"/>
            <a:ext cx="8524131" cy="489815"/>
            <a:chOff x="0" y="0"/>
            <a:chExt cx="11365508" cy="6530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65509" cy="653086"/>
            </a:xfrm>
            <a:custGeom>
              <a:avLst/>
              <a:gdLst/>
              <a:ahLst/>
              <a:cxnLst/>
              <a:rect r="r" b="b" t="t" l="l"/>
              <a:pathLst>
                <a:path h="653086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1365508" cy="7483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60064" indent="-180032" lvl="1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Z-score anomaly detection (threshold: 2.0)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2238" y="6082605"/>
            <a:ext cx="637878" cy="637877"/>
            <a:chOff x="0" y="0"/>
            <a:chExt cx="850503" cy="8505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0E0E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8575" y="6135737"/>
            <a:ext cx="425202" cy="531614"/>
            <a:chOff x="0" y="0"/>
            <a:chExt cx="566937" cy="7088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13632" y="6179939"/>
            <a:ext cx="3544044" cy="601599"/>
            <a:chOff x="0" y="0"/>
            <a:chExt cx="4725392" cy="8021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5392" cy="802132"/>
            </a:xfrm>
            <a:custGeom>
              <a:avLst/>
              <a:gdLst/>
              <a:ahLst/>
              <a:cxnLst/>
              <a:rect r="r" b="b" t="t" l="l"/>
              <a:pathLst>
                <a:path h="802132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02132"/>
                  </a:lnTo>
                  <a:lnTo>
                    <a:pt x="0" y="802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725392" cy="8116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39393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Resilience Features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13633" y="6792962"/>
            <a:ext cx="8524131" cy="489815"/>
            <a:chOff x="0" y="0"/>
            <a:chExt cx="11365508" cy="6530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65509" cy="653086"/>
            </a:xfrm>
            <a:custGeom>
              <a:avLst/>
              <a:gdLst/>
              <a:ahLst/>
              <a:cxnLst/>
              <a:rect r="r" b="b" t="t" l="l"/>
              <a:pathLst>
                <a:path h="653086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11365508" cy="7483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60064" indent="-180032" lvl="1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API fallback with realistic simulated data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13633" y="7345710"/>
            <a:ext cx="8524131" cy="489815"/>
            <a:chOff x="0" y="0"/>
            <a:chExt cx="11365508" cy="6530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65509" cy="653086"/>
            </a:xfrm>
            <a:custGeom>
              <a:avLst/>
              <a:gdLst/>
              <a:ahLst/>
              <a:cxnLst/>
              <a:rect r="r" b="b" t="t" l="l"/>
              <a:pathLst>
                <a:path h="653086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1365508" cy="7483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60064" indent="-180032" lvl="1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Error handling and logging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3153816"/>
            <a:ext cx="7088237" cy="1170392"/>
            <a:chOff x="0" y="0"/>
            <a:chExt cx="9450983" cy="15605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560523"/>
            </a:xfrm>
            <a:custGeom>
              <a:avLst/>
              <a:gdLst/>
              <a:ahLst/>
              <a:cxnLst/>
              <a:rect r="r" b="b" t="t" l="l"/>
              <a:pathLst>
                <a:path h="1560523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560523"/>
                  </a:lnTo>
                  <a:lnTo>
                    <a:pt x="0" y="1560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450983" cy="15795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186"/>
                </a:lnSpc>
              </a:pPr>
              <a:r>
                <a:rPr lang="en-US" sz="57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Technical Highlights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748510"/>
            <a:ext cx="4641949" cy="554355"/>
            <a:chOff x="0" y="0"/>
            <a:chExt cx="6189265" cy="739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89265" cy="739140"/>
            </a:xfrm>
            <a:custGeom>
              <a:avLst/>
              <a:gdLst/>
              <a:ahLst/>
              <a:cxnLst/>
              <a:rect r="r" b="b" t="t" l="l"/>
              <a:pathLst>
                <a:path h="739140" w="6189265">
                  <a:moveTo>
                    <a:pt x="0" y="0"/>
                  </a:moveTo>
                  <a:lnTo>
                    <a:pt x="6189265" y="0"/>
                  </a:lnTo>
                  <a:lnTo>
                    <a:pt x="6189265" y="739140"/>
                  </a:lnTo>
                  <a:lnTo>
                    <a:pt x="0" y="739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189265" cy="758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Multi-threaded Architecture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5474940"/>
            <a:ext cx="7805886" cy="1147717"/>
            <a:chOff x="0" y="0"/>
            <a:chExt cx="10407848" cy="1530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1530289"/>
            </a:xfrm>
            <a:custGeom>
              <a:avLst/>
              <a:gdLst/>
              <a:ahLst/>
              <a:cxnLst/>
              <a:rect r="r" b="b" t="t" l="l"/>
              <a:pathLst>
                <a:path h="1530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30289"/>
                  </a:lnTo>
                  <a:lnTo>
                    <a:pt x="0" y="1530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10407848" cy="1644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Producer-consumer pattern with thread-safe queue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6807249"/>
            <a:ext cx="7805886" cy="576217"/>
            <a:chOff x="0" y="0"/>
            <a:chExt cx="10407848" cy="7682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768289"/>
            </a:xfrm>
            <a:custGeom>
              <a:avLst/>
              <a:gdLst/>
              <a:ahLst/>
              <a:cxnLst/>
              <a:rect r="r" b="b" t="t" l="l"/>
              <a:pathLst>
                <a:path h="768289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768289"/>
                  </a:lnTo>
                  <a:lnTo>
                    <a:pt x="0" y="768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0407848" cy="8825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Concurrent data processing and web serving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4748510"/>
            <a:ext cx="3544044" cy="639318"/>
            <a:chOff x="0" y="0"/>
            <a:chExt cx="4725392" cy="8524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852424"/>
            </a:xfrm>
            <a:custGeom>
              <a:avLst/>
              <a:gdLst/>
              <a:ahLst/>
              <a:cxnLst/>
              <a:rect r="r" b="b" t="t" l="l"/>
              <a:pathLst>
                <a:path h="852424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424"/>
                  </a:lnTo>
                  <a:lnTo>
                    <a:pt x="0" y="852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725392" cy="8714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37"/>
                </a:lnSpc>
              </a:pPr>
              <a:r>
                <a:rPr lang="en-US" sz="3149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Web Technologies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5474940"/>
            <a:ext cx="7805886" cy="518559"/>
            <a:chOff x="0" y="0"/>
            <a:chExt cx="10407848" cy="6914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691412"/>
            </a:xfrm>
            <a:custGeom>
              <a:avLst/>
              <a:gdLst/>
              <a:ahLst/>
              <a:cxnLst/>
              <a:rect r="r" b="b" t="t" l="l"/>
              <a:pathLst>
                <a:path h="69141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10407848" cy="796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5145" indent="-187573" lvl="1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Python's built-in HTTP server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027687"/>
            <a:ext cx="7805886" cy="470596"/>
            <a:chOff x="0" y="0"/>
            <a:chExt cx="10407848" cy="6274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627461"/>
            </a:xfrm>
            <a:custGeom>
              <a:avLst/>
              <a:gdLst/>
              <a:ahLst/>
              <a:cxnLst/>
              <a:rect r="r" b="b" t="t" l="l"/>
              <a:pathLst>
                <a:path h="627461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27461"/>
                  </a:lnTo>
                  <a:lnTo>
                    <a:pt x="0" y="627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0407848" cy="7227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44984" indent="-172492" lvl="1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Client-side JavaScript for dynamic updates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9401" y="6580435"/>
            <a:ext cx="7805886" cy="470596"/>
            <a:chOff x="0" y="0"/>
            <a:chExt cx="10407848" cy="6274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7848" cy="627461"/>
            </a:xfrm>
            <a:custGeom>
              <a:avLst/>
              <a:gdLst/>
              <a:ahLst/>
              <a:cxnLst/>
              <a:rect r="r" b="b" t="t" l="l"/>
              <a:pathLst>
                <a:path h="627461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27461"/>
                  </a:lnTo>
                  <a:lnTo>
                    <a:pt x="0" y="627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10407848" cy="7227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44984" indent="-172492" lvl="1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Plotly.js for interactive visualization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7" y="3242695"/>
            <a:ext cx="7188921" cy="1279155"/>
            <a:chOff x="0" y="0"/>
            <a:chExt cx="9450983" cy="1681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0984" cy="1681653"/>
            </a:xfrm>
            <a:custGeom>
              <a:avLst/>
              <a:gdLst/>
              <a:ahLst/>
              <a:cxnLst/>
              <a:rect r="r" b="b" t="t" l="l"/>
              <a:pathLst>
                <a:path h="1681653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681653"/>
                  </a:lnTo>
                  <a:lnTo>
                    <a:pt x="0" y="16816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450983" cy="17197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10"/>
                </a:lnSpc>
              </a:pPr>
              <a:r>
                <a:rPr lang="en-US" sz="6262" b="true">
                  <a:solidFill>
                    <a:srgbClr val="1010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Live Demo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4914131"/>
            <a:ext cx="9445526" cy="1360885"/>
            <a:chOff x="0" y="0"/>
            <a:chExt cx="12594035" cy="1814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4035" cy="1814513"/>
            </a:xfrm>
            <a:custGeom>
              <a:avLst/>
              <a:gdLst/>
              <a:ahLst/>
              <a:cxnLst/>
              <a:rect r="r" b="b" t="t" l="l"/>
              <a:pathLst>
                <a:path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2594035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9393C"/>
                  </a:solidFill>
                  <a:latin typeface="Open Sans"/>
                  <a:ea typeface="Open Sans"/>
                  <a:cs typeface="Open Sans"/>
                  <a:sym typeface="Open Sans"/>
                </a:rPr>
                <a:t>You can access the live dashboard at http://localhost:8051. The main features to observe include real-time price and volume updates, statistical analysis cards, and anomaly indicators.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DAGmFy0c5r0</dc:identifier>
  <dcterms:modified xsi:type="dcterms:W3CDTF">2011-08-01T06:04:30Z</dcterms:modified>
  <cp:revision>1</cp:revision>
  <dc:title>Real-Time-Stock-Analysis-System.pptx</dc:title>
</cp:coreProperties>
</file>